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orizon" charset="1" panose="02000500000000000000"/>
      <p:regular r:id="rId17"/>
    </p:embeddedFont>
    <p:embeddedFont>
      <p:font typeface="Roboto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06699" y="0"/>
            <a:ext cx="6913992" cy="12291542"/>
          </a:xfrm>
          <a:custGeom>
            <a:avLst/>
            <a:gdLst/>
            <a:ahLst/>
            <a:cxnLst/>
            <a:rect r="r" b="b" t="t" l="l"/>
            <a:pathLst>
              <a:path h="12291542" w="6913992">
                <a:moveTo>
                  <a:pt x="6913992" y="0"/>
                </a:moveTo>
                <a:lnTo>
                  <a:pt x="0" y="0"/>
                </a:lnTo>
                <a:lnTo>
                  <a:pt x="0" y="12291542"/>
                </a:lnTo>
                <a:lnTo>
                  <a:pt x="6913992" y="12291542"/>
                </a:lnTo>
                <a:lnTo>
                  <a:pt x="691399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144000" y="5944316"/>
            <a:ext cx="9144000" cy="5081603"/>
          </a:xfrm>
          <a:custGeom>
            <a:avLst/>
            <a:gdLst/>
            <a:ahLst/>
            <a:cxnLst/>
            <a:rect r="r" b="b" t="t" l="l"/>
            <a:pathLst>
              <a:path h="5081603" w="9144000">
                <a:moveTo>
                  <a:pt x="9144000" y="0"/>
                </a:moveTo>
                <a:lnTo>
                  <a:pt x="0" y="0"/>
                </a:lnTo>
                <a:lnTo>
                  <a:pt x="0" y="5081602"/>
                </a:lnTo>
                <a:lnTo>
                  <a:pt x="9144000" y="5081602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07293" y="2792676"/>
            <a:ext cx="5165219" cy="137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1"/>
              </a:lnSpc>
            </a:pPr>
            <a:r>
              <a:rPr lang="en-US" sz="7197" spc="21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PMSD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07293" y="1465987"/>
            <a:ext cx="13149437" cy="160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72"/>
              </a:lnSpc>
            </a:pPr>
            <a:r>
              <a:rPr lang="en-US" sz="8495" spc="254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PROJETO A3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26502" y="1155828"/>
            <a:ext cx="10386364" cy="215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INTEGRANTES</a:t>
            </a:r>
          </a:p>
          <a:p>
            <a:pPr algn="l">
              <a:lnSpc>
                <a:spcPts val="8135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130025" y="4598297"/>
            <a:ext cx="8863651" cy="6200908"/>
          </a:xfrm>
          <a:custGeom>
            <a:avLst/>
            <a:gdLst/>
            <a:ahLst/>
            <a:cxnLst/>
            <a:rect r="r" b="b" t="t" l="l"/>
            <a:pathLst>
              <a:path h="6200908" w="8863651">
                <a:moveTo>
                  <a:pt x="0" y="0"/>
                </a:moveTo>
                <a:lnTo>
                  <a:pt x="8863651" y="0"/>
                </a:lnTo>
                <a:lnTo>
                  <a:pt x="8863651" y="6200908"/>
                </a:lnTo>
                <a:lnTo>
                  <a:pt x="0" y="6200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69636" y="2934336"/>
            <a:ext cx="9592965" cy="73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Arthur Galassi Bergonse Medeiros de Souza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 82422433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36861" y="3639186"/>
            <a:ext cx="7258513" cy="73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Luiz Washington de Jesus Muraro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 824148694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06011" y="4340861"/>
            <a:ext cx="6427345" cy="730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Lucas Felipe Monteiro Suarez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824138683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67384" y="5067300"/>
            <a:ext cx="6104599" cy="21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Leonardo Macedo Camargo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82422817</a:t>
            </a:r>
          </a:p>
          <a:p>
            <a:pPr algn="ctr">
              <a:lnSpc>
                <a:spcPts val="2800"/>
              </a:lnSpc>
            </a:pP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824117267</a:t>
            </a:r>
          </a:p>
          <a:p>
            <a:pPr algn="ctr">
              <a:lnSpc>
                <a:spcPts val="2800"/>
              </a:lnSpc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824148488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11099" y="5768975"/>
            <a:ext cx="5217170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Kauê Soares dos Santos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42291" y="6470650"/>
            <a:ext cx="3754785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George Geronimo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925348">
            <a:off x="10832461" y="-2222807"/>
            <a:ext cx="10917537" cy="17366971"/>
          </a:xfrm>
          <a:custGeom>
            <a:avLst/>
            <a:gdLst/>
            <a:ahLst/>
            <a:cxnLst/>
            <a:rect r="r" b="b" t="t" l="l"/>
            <a:pathLst>
              <a:path h="17366971" w="10917537">
                <a:moveTo>
                  <a:pt x="10917537" y="0"/>
                </a:moveTo>
                <a:lnTo>
                  <a:pt x="0" y="0"/>
                </a:lnTo>
                <a:lnTo>
                  <a:pt x="0" y="17366970"/>
                </a:lnTo>
                <a:lnTo>
                  <a:pt x="10917537" y="17366970"/>
                </a:lnTo>
                <a:lnTo>
                  <a:pt x="10917537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90600"/>
            <a:ext cx="9262796" cy="11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INTRODUCÃO            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9927" y="2844951"/>
            <a:ext cx="9400342" cy="531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urbanização acelerada afeta a saúde pública em áreas precárias, ampliando a disseminação de doenças. Como solução para cidades inteligentes, propomos um  dispositivo IoT para monitorar e mitigar esses impactos, melhorando os serviços urbanos.</a:t>
            </a:r>
          </a:p>
          <a:p>
            <a:pPr algn="just">
              <a:lnSpc>
                <a:spcPts val="53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42456" y="990600"/>
            <a:ext cx="10116844" cy="215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6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DEFINIÇÃO DO PROBLEMA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42456" y="3700401"/>
            <a:ext cx="10116844" cy="464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Como exemplo deste problemas temos a COVID que entre 2020 e 2024 causou mais de 700 mil mortes e registrou 38 milhões de casos confirmados. Pela ausência de infraestrutura adequada favorecendo a rápida disseminação de diversas doenças altamente contagiosas.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841601">
            <a:off x="-3640854" y="-2773484"/>
            <a:ext cx="11414144" cy="18156945"/>
          </a:xfrm>
          <a:custGeom>
            <a:avLst/>
            <a:gdLst/>
            <a:ahLst/>
            <a:cxnLst/>
            <a:rect r="r" b="b" t="t" l="l"/>
            <a:pathLst>
              <a:path h="18156945" w="11414144">
                <a:moveTo>
                  <a:pt x="0" y="0"/>
                </a:moveTo>
                <a:lnTo>
                  <a:pt x="11414145" y="0"/>
                </a:lnTo>
                <a:lnTo>
                  <a:pt x="11414145" y="18156944"/>
                </a:lnTo>
                <a:lnTo>
                  <a:pt x="0" y="18156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84720" y="0"/>
            <a:ext cx="5207794" cy="9258300"/>
          </a:xfrm>
          <a:custGeom>
            <a:avLst/>
            <a:gdLst/>
            <a:ahLst/>
            <a:cxnLst/>
            <a:rect r="r" b="b" t="t" l="l"/>
            <a:pathLst>
              <a:path h="9258300" w="5207794">
                <a:moveTo>
                  <a:pt x="0" y="0"/>
                </a:moveTo>
                <a:lnTo>
                  <a:pt x="5207794" y="0"/>
                </a:lnTo>
                <a:lnTo>
                  <a:pt x="520779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95482" y="6168905"/>
            <a:ext cx="9144000" cy="5081603"/>
          </a:xfrm>
          <a:custGeom>
            <a:avLst/>
            <a:gdLst/>
            <a:ahLst/>
            <a:cxnLst/>
            <a:rect r="r" b="b" t="t" l="l"/>
            <a:pathLst>
              <a:path h="5081603" w="9144000">
                <a:moveTo>
                  <a:pt x="0" y="0"/>
                </a:moveTo>
                <a:lnTo>
                  <a:pt x="9144000" y="0"/>
                </a:lnTo>
                <a:lnTo>
                  <a:pt x="9144000" y="5081603"/>
                </a:lnTo>
                <a:lnTo>
                  <a:pt x="0" y="5081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75525" y="2684166"/>
            <a:ext cx="12936950" cy="6969479"/>
            <a:chOff x="0" y="0"/>
            <a:chExt cx="3407263" cy="18355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07263" cy="1835583"/>
            </a:xfrm>
            <a:custGeom>
              <a:avLst/>
              <a:gdLst/>
              <a:ahLst/>
              <a:cxnLst/>
              <a:rect r="r" b="b" t="t" l="l"/>
              <a:pathLst>
                <a:path h="1835583" w="3407263">
                  <a:moveTo>
                    <a:pt x="30520" y="0"/>
                  </a:moveTo>
                  <a:lnTo>
                    <a:pt x="3376742" y="0"/>
                  </a:lnTo>
                  <a:cubicBezTo>
                    <a:pt x="3393598" y="0"/>
                    <a:pt x="3407263" y="13664"/>
                    <a:pt x="3407263" y="30520"/>
                  </a:cubicBezTo>
                  <a:lnTo>
                    <a:pt x="3407263" y="1805063"/>
                  </a:lnTo>
                  <a:cubicBezTo>
                    <a:pt x="3407263" y="1821919"/>
                    <a:pt x="3393598" y="1835583"/>
                    <a:pt x="3376742" y="1835583"/>
                  </a:cubicBezTo>
                  <a:lnTo>
                    <a:pt x="30520" y="1835583"/>
                  </a:lnTo>
                  <a:cubicBezTo>
                    <a:pt x="22426" y="1835583"/>
                    <a:pt x="14663" y="1832367"/>
                    <a:pt x="8939" y="1826644"/>
                  </a:cubicBezTo>
                  <a:cubicBezTo>
                    <a:pt x="3216" y="1820920"/>
                    <a:pt x="0" y="1813157"/>
                    <a:pt x="0" y="1805063"/>
                  </a:cubicBezTo>
                  <a:lnTo>
                    <a:pt x="0" y="30520"/>
                  </a:lnTo>
                  <a:cubicBezTo>
                    <a:pt x="0" y="13664"/>
                    <a:pt x="13664" y="0"/>
                    <a:pt x="30520" y="0"/>
                  </a:cubicBezTo>
                  <a:close/>
                </a:path>
              </a:pathLst>
            </a:custGeom>
            <a:solidFill>
              <a:srgbClr val="191A1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407263" cy="1873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941287" y="2837808"/>
            <a:ext cx="12053140" cy="3582684"/>
          </a:xfrm>
          <a:custGeom>
            <a:avLst/>
            <a:gdLst/>
            <a:ahLst/>
            <a:cxnLst/>
            <a:rect r="r" b="b" t="t" l="l"/>
            <a:pathLst>
              <a:path h="3582684" w="12053140">
                <a:moveTo>
                  <a:pt x="0" y="0"/>
                </a:moveTo>
                <a:lnTo>
                  <a:pt x="12053140" y="0"/>
                </a:lnTo>
                <a:lnTo>
                  <a:pt x="12053140" y="3582684"/>
                </a:lnTo>
                <a:lnTo>
                  <a:pt x="0" y="3582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76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76335" y="6461051"/>
            <a:ext cx="11918092" cy="2797249"/>
          </a:xfrm>
          <a:custGeom>
            <a:avLst/>
            <a:gdLst/>
            <a:ahLst/>
            <a:cxnLst/>
            <a:rect r="r" b="b" t="t" l="l"/>
            <a:pathLst>
              <a:path h="2797249" w="11918092">
                <a:moveTo>
                  <a:pt x="0" y="0"/>
                </a:moveTo>
                <a:lnTo>
                  <a:pt x="11918092" y="0"/>
                </a:lnTo>
                <a:lnTo>
                  <a:pt x="11918092" y="2797249"/>
                </a:lnTo>
                <a:lnTo>
                  <a:pt x="0" y="27972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1" r="-76" b="-10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76335" y="1139905"/>
            <a:ext cx="12135331" cy="11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GRAFICOS COVID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8402" y="-1780163"/>
            <a:ext cx="5207794" cy="9258300"/>
          </a:xfrm>
          <a:custGeom>
            <a:avLst/>
            <a:gdLst/>
            <a:ahLst/>
            <a:cxnLst/>
            <a:rect r="r" b="b" t="t" l="l"/>
            <a:pathLst>
              <a:path h="9258300" w="5207794">
                <a:moveTo>
                  <a:pt x="0" y="0"/>
                </a:moveTo>
                <a:lnTo>
                  <a:pt x="5207794" y="0"/>
                </a:lnTo>
                <a:lnTo>
                  <a:pt x="520779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79409" y="1080183"/>
            <a:ext cx="14129181" cy="105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46"/>
              </a:lnSpc>
            </a:pPr>
            <a:r>
              <a:rPr lang="en-US" sz="6678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PROPOSTA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23656" y="2323015"/>
            <a:ext cx="11240689" cy="655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2"/>
              </a:lnSpc>
              <a:spcBef>
                <a:spcPct val="0"/>
              </a:spcBef>
            </a:pPr>
            <a:r>
              <a:rPr lang="en-US" sz="288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Mediante aos problemas propomos o desenvolvimento de uma Pulseira de Monitoramento de Saúde e Doenças (PMSD), um dispositivo IoT vestível voltado para pessoas com saúde fragilizada ou que buscam monitorar sua condição física e prevenir doenças. A PMSD integra sensores que monitoram dados como frequência cardíaca, pressão arterial, temperatura corporal e nível de oxigênio, alertando sobre anormalidades. Sua principal funcionalidade é um sistema de geolocalização que informa sobre áreas com alta incidência de doenças transmissíveis. O dispositivo também auxilia no gerenciamento de tratamentos, notifica sobre horários e dosagens de medicamentos, e permite o acompanhamento remoto por profissionais de saúde, promovendo uma abordagem preventiva e personalizada para a saúde do usuário.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10408463">
            <a:off x="-3857135" y="-4509086"/>
            <a:ext cx="10917537" cy="17366971"/>
          </a:xfrm>
          <a:custGeom>
            <a:avLst/>
            <a:gdLst/>
            <a:ahLst/>
            <a:cxnLst/>
            <a:rect r="r" b="b" t="t" l="l"/>
            <a:pathLst>
              <a:path h="17366971" w="10917537">
                <a:moveTo>
                  <a:pt x="10917537" y="0"/>
                </a:moveTo>
                <a:lnTo>
                  <a:pt x="0" y="0"/>
                </a:lnTo>
                <a:lnTo>
                  <a:pt x="0" y="17366971"/>
                </a:lnTo>
                <a:lnTo>
                  <a:pt x="10917537" y="17366971"/>
                </a:lnTo>
                <a:lnTo>
                  <a:pt x="10917537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9030" y="3178919"/>
            <a:ext cx="8476221" cy="5030196"/>
          </a:xfrm>
          <a:custGeom>
            <a:avLst/>
            <a:gdLst/>
            <a:ahLst/>
            <a:cxnLst/>
            <a:rect r="r" b="b" t="t" l="l"/>
            <a:pathLst>
              <a:path h="5030196" w="8476221">
                <a:moveTo>
                  <a:pt x="0" y="0"/>
                </a:moveTo>
                <a:lnTo>
                  <a:pt x="8476221" y="0"/>
                </a:lnTo>
                <a:lnTo>
                  <a:pt x="8476221" y="5030196"/>
                </a:lnTo>
                <a:lnTo>
                  <a:pt x="0" y="5030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9" t="0" r="-2976" b="0"/>
            </a:stretch>
          </a:blipFill>
          <a:ln w="66675" cap="rnd">
            <a:solidFill>
              <a:srgbClr val="FFFFFF"/>
            </a:solidFill>
            <a:prstDash val="solid"/>
            <a:round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536302" y="3178919"/>
            <a:ext cx="8327818" cy="5030196"/>
          </a:xfrm>
          <a:custGeom>
            <a:avLst/>
            <a:gdLst/>
            <a:ahLst/>
            <a:cxnLst/>
            <a:rect r="r" b="b" t="t" l="l"/>
            <a:pathLst>
              <a:path h="5030196" w="8327818">
                <a:moveTo>
                  <a:pt x="0" y="0"/>
                </a:moveTo>
                <a:lnTo>
                  <a:pt x="8327818" y="0"/>
                </a:lnTo>
                <a:lnTo>
                  <a:pt x="8327818" y="5030196"/>
                </a:lnTo>
                <a:lnTo>
                  <a:pt x="0" y="5030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37" t="0" r="0" b="0"/>
            </a:stretch>
          </a:blipFill>
          <a:ln w="66675" cap="rnd">
            <a:solidFill>
              <a:srgbClr val="FFFFFF"/>
            </a:solidFill>
            <a:prstDash val="solid"/>
            <a:round/>
          </a:ln>
        </p:spPr>
      </p:sp>
      <p:sp>
        <p:nvSpPr>
          <p:cNvPr name="TextBox 4" id="4"/>
          <p:cNvSpPr txBox="true"/>
          <p:nvPr/>
        </p:nvSpPr>
        <p:spPr>
          <a:xfrm rot="0">
            <a:off x="1788955" y="990600"/>
            <a:ext cx="14957196" cy="11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ILUSTRACAO PMSD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35376" y="8440086"/>
            <a:ext cx="8217247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(Imagens geradas pelo Adobe Firefly)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69862" y="-131080"/>
            <a:ext cx="9281567" cy="10561206"/>
          </a:xfrm>
          <a:custGeom>
            <a:avLst/>
            <a:gdLst/>
            <a:ahLst/>
            <a:cxnLst/>
            <a:rect r="r" b="b" t="t" l="l"/>
            <a:pathLst>
              <a:path h="10561206" w="9281567">
                <a:moveTo>
                  <a:pt x="0" y="0"/>
                </a:moveTo>
                <a:lnTo>
                  <a:pt x="9281567" y="0"/>
                </a:lnTo>
                <a:lnTo>
                  <a:pt x="9281567" y="10561207"/>
                </a:lnTo>
                <a:lnTo>
                  <a:pt x="0" y="1056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273" t="0" r="-53915" b="0"/>
            </a:stretch>
          </a:blipFill>
          <a:ln w="66675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-311406" y="184353"/>
            <a:ext cx="9679364" cy="11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PESQUISA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8573" y="1521858"/>
            <a:ext cx="7419405" cy="841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3"/>
              </a:lnSpc>
              <a:spcBef>
                <a:spcPct val="0"/>
              </a:spcBef>
            </a:pPr>
            <a:r>
              <a:rPr lang="en-US" sz="280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uso de IoT similares em cidades como Boston, Barcelona, Shanghai, Toronto e Londres demonstra como essa tecnologia promove um sistema de saúde mais preventivo, acessível e personalizado. Boston e Barcelona focam no monitoramento personalizado e na redução de riscos como poluição e quedas. Shanghai amplia o acesso à saúde com telemedicina, enquanto Toronto melhora a adesão a tratamentos por meio de sensores. Londres destaca o uso de dispositivos vestíveis para monitoramento cardíaco e intervenções rápidas. Essas iniciativas mostram como o IoT fornece dados valiosos, ajudando gestores a identificar padrões e tomar decisões estratégicas para melhorar a saúde pública de forma eficiente.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04514"/>
            <a:ext cx="7864939" cy="10496027"/>
          </a:xfrm>
          <a:custGeom>
            <a:avLst/>
            <a:gdLst/>
            <a:ahLst/>
            <a:cxnLst/>
            <a:rect r="r" b="b" t="t" l="l"/>
            <a:pathLst>
              <a:path h="10496027" w="7864939">
                <a:moveTo>
                  <a:pt x="0" y="0"/>
                </a:moveTo>
                <a:lnTo>
                  <a:pt x="7864939" y="0"/>
                </a:lnTo>
                <a:lnTo>
                  <a:pt x="7864939" y="10496028"/>
                </a:lnTo>
                <a:lnTo>
                  <a:pt x="0" y="1049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5" t="0" r="-32437" b="0"/>
            </a:stretch>
          </a:blipFill>
          <a:ln w="66675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389392" y="444246"/>
            <a:ext cx="6855024" cy="113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DOENÇAS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3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11761" y="4169449"/>
            <a:ext cx="16026714" cy="8681137"/>
          </a:xfrm>
          <a:custGeom>
            <a:avLst/>
            <a:gdLst/>
            <a:ahLst/>
            <a:cxnLst/>
            <a:rect r="r" b="b" t="t" l="l"/>
            <a:pathLst>
              <a:path h="8681137" w="16026714">
                <a:moveTo>
                  <a:pt x="0" y="0"/>
                </a:moveTo>
                <a:lnTo>
                  <a:pt x="16026714" y="0"/>
                </a:lnTo>
                <a:lnTo>
                  <a:pt x="16026714" y="8681137"/>
                </a:lnTo>
                <a:lnTo>
                  <a:pt x="0" y="8681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DAGWmOMs8Xk</dc:identifier>
  <dcterms:modified xsi:type="dcterms:W3CDTF">2011-08-01T06:04:30Z</dcterms:modified>
  <cp:revision>1</cp:revision>
  <dc:title>Projeto A3 - PMSD</dc:title>
</cp:coreProperties>
</file>